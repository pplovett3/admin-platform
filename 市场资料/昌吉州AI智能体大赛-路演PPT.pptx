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50A1A"/>
              </a:gs>
              <a:gs pos="50000">
                <a:srgbClr val="0A1F3D"/>
              </a:gs>
              <a:gs pos="100000">
                <a:srgbClr val="122E5C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728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300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344400" y="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2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716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288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860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432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004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576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148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720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0292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864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436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152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724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296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868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440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6012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584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5156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300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8872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344400" y="457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572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144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3716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8288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2860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7432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2004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6576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1148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720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0292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4864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436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4008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8580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3152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724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2296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68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1440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6012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584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5156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728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300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8872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2344400" y="914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572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144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3716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8288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2860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7432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2004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6576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1148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5720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0292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4864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9436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4008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8580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3152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7724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2296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6868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1440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6012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0584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5156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9728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300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8872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2344400" y="1371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572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144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3716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8288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2860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7432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2004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6576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1148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5720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0292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4864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9436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4008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8580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3152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7724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2296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6868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1440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2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0584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5156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9728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300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8872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2344400" y="1828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572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144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3716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8288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2860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7432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2004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6576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1148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5720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0292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4864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9436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4008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8580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152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7724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2296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6868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1440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6012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0584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5156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9728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300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8872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2344400" y="2286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572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9144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3716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8288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2860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7432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2004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36576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1148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5720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0292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4864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9436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4008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68580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3152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7724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2296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6868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1440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6012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0584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5156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09728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300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8872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2344400" y="2743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4572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144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716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8288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2860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27432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2004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36576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1148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5720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0292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4864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59436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4008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8580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3152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7724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2296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6868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1440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6012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0584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5156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9728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300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8872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2344400" y="3200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572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144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3716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8288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2860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7432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2004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6576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5720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0292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4864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9436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4008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68580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3152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7724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2296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6868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1440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6012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0584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5156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9728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300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8872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2344400" y="3657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4572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9144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3716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88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2860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27432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2004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36576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1148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5720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0292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4864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59436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4008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68580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3152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7724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2296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6868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1440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6012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0584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5156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09728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300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8872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2344400" y="4114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4572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9144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3716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8288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2860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27432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2004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36576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1148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5720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0292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4864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59436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4008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68580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3152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7724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2296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6868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1440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6012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0584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5156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09728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300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8872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2344400" y="4572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4572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9144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3716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8288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2860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7432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2004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36576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1148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5720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0292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4864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9436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4008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68580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3152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7724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2296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6868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1440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6012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0584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5156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9728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300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8872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2344400" y="5029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572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9144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3716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8288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2860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7432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2004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576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1148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5720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0292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4864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9436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4008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8580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3152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7724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2296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6868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1440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6012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0584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5156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9728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300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8872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2344400" y="54864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4572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9144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3716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8288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2860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7432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2004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36576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1148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5720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0292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4864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59436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4008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68580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3152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7724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2296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6868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1440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6012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0584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5156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09728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300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8872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2344400" y="59436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4572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9144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3716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8288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2860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7432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2004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36576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1148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5720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0292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4864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59436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4008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68580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3152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7724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2296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6868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1440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6012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0584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5156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09728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300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8872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2344400" y="64008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4572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9144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3716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8288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2860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7432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2004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36576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1148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5720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0292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4864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59436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4008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68580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3152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7724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2296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6868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1440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6012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0584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5156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09728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300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8872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12344400" y="68580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572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9144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3716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8288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2860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7432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2004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6576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41148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45720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50292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54864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59436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64008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68580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73152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77724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82296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86868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91440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96012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00584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05156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09728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14300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18872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2344400" y="7315200"/>
            <a:ext cx="19050" cy="19050"/>
          </a:xfrm>
          <a:prstGeom prst="ellipse">
            <a:avLst/>
          </a:prstGeom>
          <a:solidFill>
            <a:srgbClr val="1A2E4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9326880" y="731520"/>
            <a:ext cx="2560320" cy="2560320"/>
          </a:xfrm>
          <a:prstGeom prst="ellipse">
            <a:avLst/>
          </a:prstGeom>
          <a:noFill/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9784080" y="1188720"/>
            <a:ext cx="1645920" cy="1645920"/>
          </a:xfrm>
          <a:prstGeom prst="ellipse">
            <a:avLst/>
          </a:prstGeom>
          <a:noFill/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10058400" y="1463040"/>
            <a:ext cx="1097280" cy="1097280"/>
          </a:xfrm>
          <a:prstGeom prst="ellipse">
            <a:avLst/>
          </a:prstGeom>
          <a:noFill/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0515600" y="2011680"/>
            <a:ext cx="164592" cy="164592"/>
          </a:xfrm>
          <a:prstGeom prst="ellipse">
            <a:avLst/>
          </a:prstGeom>
          <a:solidFill>
            <a:srgbClr val="00D4FF"/>
          </a:solidFill>
          <a:ln>
            <a:noFill/>
          </a:ln>
          <a:effectLst>
            <a:glow rad="228600">
              <a:srgbClr val="00D4FF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1247120" y="4114800"/>
            <a:ext cx="128016" cy="128016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glow rad="228600">
              <a:srgbClr val="FF8A3D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371600" y="594360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glow rad="228600">
              <a:srgbClr val="8B5CF6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457200" y="5303520"/>
            <a:ext cx="12700" cy="1371600"/>
          </a:xfrm>
          <a:prstGeom prst="rect">
            <a:avLst/>
          </a:prstGeom>
          <a:solidFill>
            <a:srgbClr val="00D4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731520" y="5303520"/>
            <a:ext cx="12700" cy="1371600"/>
          </a:xfrm>
          <a:prstGeom prst="rect">
            <a:avLst/>
          </a:prstGeom>
          <a:solidFill>
            <a:srgbClr val="00D4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005840" y="5303520"/>
            <a:ext cx="12700" cy="1371600"/>
          </a:xfrm>
          <a:prstGeom prst="rect">
            <a:avLst/>
          </a:prstGeom>
          <a:solidFill>
            <a:srgbClr val="00D4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280159" y="5303520"/>
            <a:ext cx="12700" cy="1371600"/>
          </a:xfrm>
          <a:prstGeom prst="rect">
            <a:avLst/>
          </a:prstGeom>
          <a:solidFill>
            <a:srgbClr val="00D4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554480" y="5303520"/>
            <a:ext cx="12700" cy="1371600"/>
          </a:xfrm>
          <a:prstGeom prst="rect">
            <a:avLst/>
          </a:prstGeom>
          <a:solidFill>
            <a:srgbClr val="00D4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828800" y="5303520"/>
            <a:ext cx="12700" cy="1371600"/>
          </a:xfrm>
          <a:prstGeom prst="rect">
            <a:avLst/>
          </a:prstGeom>
          <a:solidFill>
            <a:srgbClr val="00D4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2103119" y="5303520"/>
            <a:ext cx="12700" cy="1371600"/>
          </a:xfrm>
          <a:prstGeom prst="rect">
            <a:avLst/>
          </a:prstGeom>
          <a:solidFill>
            <a:srgbClr val="00D4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2377440" y="5303520"/>
            <a:ext cx="12700" cy="1371600"/>
          </a:xfrm>
          <a:prstGeom prst="rect">
            <a:avLst/>
          </a:prstGeom>
          <a:solidFill>
            <a:srgbClr val="00D4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ounded Rectangle 492"/>
          <p:cNvSpPr/>
          <p:nvPr/>
        </p:nvSpPr>
        <p:spPr>
          <a:xfrm>
            <a:off x="822960" y="777240"/>
            <a:ext cx="411480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1005840" y="914400"/>
            <a:ext cx="182880" cy="1828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1325880" y="84124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昌吉州 AI 智能体创新应用大赛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6" name="TextBox 495"/>
          <p:cNvSpPr txBox="1"/>
          <p:nvPr/>
        </p:nvSpPr>
        <p:spPr>
          <a:xfrm>
            <a:off x="822960" y="2011680"/>
            <a:ext cx="10058400" cy="1070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5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智匠云教</a:t>
            </a:r>
            <a:r>
              <a:rPr lang="en-US" altLang="zh-CN" sz="5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5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lang="zh-CN" altLang="en-US" sz="5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8" name="TextBox 497"/>
          <p:cNvSpPr txBox="1"/>
          <p:nvPr/>
        </p:nvSpPr>
        <p:spPr>
          <a:xfrm>
            <a:off x="877570" y="3349625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职业教育全栈元宇宙解决方案</a:t>
            </a:r>
            <a:endParaRPr sz="2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Rectangle 498"/>
          <p:cNvSpPr/>
          <p:nvPr/>
        </p:nvSpPr>
        <p:spPr>
          <a:xfrm>
            <a:off x="822960" y="4709160"/>
            <a:ext cx="54864" cy="36576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1005840" y="47091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AI 大模型  ×  空间计算  ×  WebGL2.0  ——  打造沉浸式职教实训新范式</a:t>
            </a:r>
            <a:endParaRPr sz="15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822960" y="548640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定位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2" name="TextBox 501"/>
          <p:cNvSpPr txBox="1"/>
          <p:nvPr/>
        </p:nvSpPr>
        <p:spPr>
          <a:xfrm>
            <a:off x="1554480" y="5486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依托昌吉州“东数西算”枢纽 · 国际融合算力中心</a:t>
            </a:r>
            <a:endParaRPr sz="12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TextBox 502"/>
          <p:cNvSpPr txBox="1"/>
          <p:nvPr/>
        </p:nvSpPr>
        <p:spPr>
          <a:xfrm>
            <a:off x="822960" y="5870448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方向</a:t>
            </a:r>
            <a:endParaRPr sz="11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TextBox 503"/>
          <p:cNvSpPr txBox="1"/>
          <p:nvPr/>
        </p:nvSpPr>
        <p:spPr>
          <a:xfrm>
            <a:off x="1554480" y="58704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AI + 职业教育数字化实训</a:t>
            </a:r>
            <a:endParaRPr sz="12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5" name="TextBox 504"/>
          <p:cNvSpPr txBox="1"/>
          <p:nvPr/>
        </p:nvSpPr>
        <p:spPr>
          <a:xfrm>
            <a:off x="822960" y="6254496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形式</a:t>
            </a:r>
            <a:endParaRPr sz="11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6" name="TextBox 505"/>
          <p:cNvSpPr txBox="1"/>
          <p:nvPr/>
        </p:nvSpPr>
        <p:spPr>
          <a:xfrm>
            <a:off x="1554480" y="6254496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路演汇报  /  2026</a:t>
            </a:r>
            <a:endParaRPr sz="12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gradFill flip="none" rotWithShape="1">
            <a:gsLst>
              <a:gs pos="0">
                <a:srgbClr val="050A1A"/>
              </a:gs>
              <a:gs pos="50000">
                <a:srgbClr val="0A1F3D"/>
              </a:gs>
              <a:gs pos="100000">
                <a:srgbClr val="122E5C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43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148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156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728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300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887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344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7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716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860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743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00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76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1148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720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29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486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436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8580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15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772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2296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868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1440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601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058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156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9728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4300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1887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2344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57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14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3716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288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860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743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200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6576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1148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5720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029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486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9436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4008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8580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315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772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2296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6868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1440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601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058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5156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9728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4300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887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2344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57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14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3716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8288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2860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743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200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6576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1148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5720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029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486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59436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4008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8580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315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772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2296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6868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1440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601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058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5156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9728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4300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887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2344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57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14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3716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8288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2860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2743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200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6576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1148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5720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029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486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9436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4008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8580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315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772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2296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6868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1440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01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058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5156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09728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4300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887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2344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457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914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3716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8288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2860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743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200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6576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1148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45720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029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486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59436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4008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8580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15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772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2296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6868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1440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9601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058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5156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9728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4300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887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2344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457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14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3716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8288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2860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2743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3200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6576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1148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45720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029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486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59436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64008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68580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315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772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2296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6868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1440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9601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058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05156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09728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4300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1887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2344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57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14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716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8288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22860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2743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3200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36576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1148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45720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029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5486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59436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4008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68580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315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7772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2296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6868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1440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601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058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5156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9728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4300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1887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2344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57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914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3716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8288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2860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2743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200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36576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1148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45720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029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486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59436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64008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68580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315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7772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2296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86868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1440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9601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058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5156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09728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4300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887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2344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457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914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3716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88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22860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2743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3200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36576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1148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45720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029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5486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9436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64008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68580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315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7772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2296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86868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1440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9601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058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05156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09728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4300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1887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2344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457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914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3716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8288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22860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743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3200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36576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1148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45720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029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5486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59436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64008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68580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315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7772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2296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86868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1440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9601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058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05156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09728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4300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1887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2344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457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14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3716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8288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2860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743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3200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6576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1148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45720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029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486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59436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64008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68580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315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772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2296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86868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1440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601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058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5156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09728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4300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1887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2344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457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914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3716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8288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2860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743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200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36576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1148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45720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029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486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59436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4008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68580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315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7772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2296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86868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1440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9601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058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5156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09728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4300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1887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2344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457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914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3716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8288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2860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743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3200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36576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1148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45720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029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5486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59436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64008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68580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315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7772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2296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86868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1440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9601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058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05156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09728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4300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1887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12344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457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914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3716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8288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2860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43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3200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36576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1148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45720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029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5486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59436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64008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68580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315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7772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2296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86868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1440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9601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058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05156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09728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4300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1887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12344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457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914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3716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18288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2860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743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3200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36576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1148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45720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029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5486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59436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64008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68580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315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7772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2296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86868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1440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9601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058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05156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09728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4300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11887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12344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57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914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3716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8288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2860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2743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200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6576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41148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45720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5029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5486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59436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64008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68580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7315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7772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82296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86868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91440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9601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0058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05156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09728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14300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1887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12344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2926080" y="4754880"/>
            <a:ext cx="2011680" cy="2011680"/>
          </a:xfrm>
          <a:prstGeom prst="ellipse">
            <a:avLst/>
          </a:prstGeom>
          <a:noFill/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731520" y="731520"/>
            <a:ext cx="128016" cy="128016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glow rad="228600">
              <a:srgbClr val="FF8A3D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548640" y="2377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3" name="TextBox 482"/>
          <p:cNvSpPr txBox="1"/>
          <p:nvPr/>
        </p:nvSpPr>
        <p:spPr>
          <a:xfrm>
            <a:off x="548640" y="27432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  录</a:t>
            </a:r>
            <a:endParaRPr sz="4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4" name="Rectangle 483"/>
          <p:cNvSpPr/>
          <p:nvPr/>
        </p:nvSpPr>
        <p:spPr>
          <a:xfrm>
            <a:off x="548640" y="3657600"/>
            <a:ext cx="13716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TextBox 484"/>
          <p:cNvSpPr txBox="1"/>
          <p:nvPr/>
        </p:nvSpPr>
        <p:spPr>
          <a:xfrm>
            <a:off x="548640" y="3886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</a:t>
            </a:r>
            <a:endParaRPr sz="13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6" name="TextBox 485"/>
          <p:cNvSpPr txBox="1"/>
          <p:nvPr/>
        </p:nvSpPr>
        <p:spPr>
          <a:xfrm>
            <a:off x="548640" y="4206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路演汇报  ·  2026</a:t>
            </a:r>
            <a:endParaRPr sz="13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7" name="TextBox 486"/>
          <p:cNvSpPr txBox="1"/>
          <p:nvPr/>
        </p:nvSpPr>
        <p:spPr>
          <a:xfrm>
            <a:off x="4572000" y="7772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4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TextBox 487"/>
          <p:cNvSpPr txBox="1"/>
          <p:nvPr/>
        </p:nvSpPr>
        <p:spPr>
          <a:xfrm>
            <a:off x="5349240" y="8686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行业痛点与立项背景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Rectangle 488"/>
          <p:cNvSpPr/>
          <p:nvPr/>
        </p:nvSpPr>
        <p:spPr>
          <a:xfrm>
            <a:off x="4572000" y="1325880"/>
            <a:ext cx="32004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4572000" y="1856231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TextBox 490"/>
          <p:cNvSpPr txBox="1"/>
          <p:nvPr/>
        </p:nvSpPr>
        <p:spPr>
          <a:xfrm>
            <a:off x="5349240" y="1947671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项目目标与产品定位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2" name="Rectangle 491"/>
          <p:cNvSpPr/>
          <p:nvPr/>
        </p:nvSpPr>
        <p:spPr>
          <a:xfrm>
            <a:off x="4572000" y="2404871"/>
            <a:ext cx="32004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TextBox 492"/>
          <p:cNvSpPr txBox="1"/>
          <p:nvPr/>
        </p:nvSpPr>
        <p:spPr>
          <a:xfrm>
            <a:off x="4572000" y="2935224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5CE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400" b="1">
              <a:solidFill>
                <a:srgbClr val="1E5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4" name="TextBox 493"/>
          <p:cNvSpPr txBox="1"/>
          <p:nvPr/>
        </p:nvSpPr>
        <p:spPr>
          <a:xfrm>
            <a:off x="5349240" y="302666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总体技术架构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5" name="Rectangle 494"/>
          <p:cNvSpPr/>
          <p:nvPr/>
        </p:nvSpPr>
        <p:spPr>
          <a:xfrm>
            <a:off x="4572000" y="3483864"/>
            <a:ext cx="32004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4572000" y="4014215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4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7" name="TextBox 496"/>
          <p:cNvSpPr txBox="1"/>
          <p:nvPr/>
        </p:nvSpPr>
        <p:spPr>
          <a:xfrm>
            <a:off x="5349240" y="4105655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三大核心技术引擎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8" name="Rectangle 497"/>
          <p:cNvSpPr/>
          <p:nvPr/>
        </p:nvSpPr>
        <p:spPr>
          <a:xfrm>
            <a:off x="4572000" y="4562855"/>
            <a:ext cx="32004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TextBox 498"/>
          <p:cNvSpPr txBox="1"/>
          <p:nvPr/>
        </p:nvSpPr>
        <p:spPr>
          <a:xfrm>
            <a:off x="4572000" y="5093207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4B8A6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400" b="1">
              <a:solidFill>
                <a:srgbClr val="14B8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0" name="TextBox 499"/>
          <p:cNvSpPr txBox="1"/>
          <p:nvPr/>
        </p:nvSpPr>
        <p:spPr>
          <a:xfrm>
            <a:off x="5349240" y="5184647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AI 智能体闭环能力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1" name="Rectangle 500"/>
          <p:cNvSpPr/>
          <p:nvPr/>
        </p:nvSpPr>
        <p:spPr>
          <a:xfrm>
            <a:off x="4572000" y="5641847"/>
            <a:ext cx="32004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8686800" y="7772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24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3" name="TextBox 502"/>
          <p:cNvSpPr txBox="1"/>
          <p:nvPr/>
        </p:nvSpPr>
        <p:spPr>
          <a:xfrm>
            <a:off x="9464040" y="8686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产品功能与应用场景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Rectangle 503"/>
          <p:cNvSpPr/>
          <p:nvPr/>
        </p:nvSpPr>
        <p:spPr>
          <a:xfrm>
            <a:off x="8686800" y="1325880"/>
            <a:ext cx="32004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8686800" y="1856231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2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6" name="TextBox 505"/>
          <p:cNvSpPr txBox="1"/>
          <p:nvPr/>
        </p:nvSpPr>
        <p:spPr>
          <a:xfrm>
            <a:off x="9464040" y="1947671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成果与质效提升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7" name="Rectangle 506"/>
          <p:cNvSpPr/>
          <p:nvPr/>
        </p:nvSpPr>
        <p:spPr>
          <a:xfrm>
            <a:off x="8686800" y="2404871"/>
            <a:ext cx="32004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8686800" y="2935224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E5CE5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2400" b="1">
              <a:solidFill>
                <a:srgbClr val="1E5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9" name="TextBox 508"/>
          <p:cNvSpPr txBox="1"/>
          <p:nvPr/>
        </p:nvSpPr>
        <p:spPr>
          <a:xfrm>
            <a:off x="9464040" y="302666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经济与社会效益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0" name="Rectangle 509"/>
          <p:cNvSpPr/>
          <p:nvPr/>
        </p:nvSpPr>
        <p:spPr>
          <a:xfrm>
            <a:off x="8686800" y="3483864"/>
            <a:ext cx="32004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8686800" y="4014215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24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" name="TextBox 511"/>
          <p:cNvSpPr txBox="1"/>
          <p:nvPr/>
        </p:nvSpPr>
        <p:spPr>
          <a:xfrm>
            <a:off x="9464040" y="4105655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创新优势与推广路径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3" name="Rectangle 512"/>
          <p:cNvSpPr/>
          <p:nvPr/>
        </p:nvSpPr>
        <p:spPr>
          <a:xfrm>
            <a:off x="8686800" y="4562855"/>
            <a:ext cx="32004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8686800" y="5093207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4B8A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2400" b="1">
              <a:solidFill>
                <a:srgbClr val="14B8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5" name="TextBox 514"/>
          <p:cNvSpPr txBox="1"/>
          <p:nvPr/>
        </p:nvSpPr>
        <p:spPr>
          <a:xfrm>
            <a:off x="9464040" y="5184647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发展规划与愿景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6" name="Rectangle 515"/>
          <p:cNvSpPr/>
          <p:nvPr/>
        </p:nvSpPr>
        <p:spPr>
          <a:xfrm>
            <a:off x="8686800" y="5641847"/>
            <a:ext cx="32004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01  ·  行业痛点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职业教育数字化实训的三大痛点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03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5204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3520440" cy="91440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552E14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240280"/>
            <a:ext cx="3520440" cy="4572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92024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3D 实训内容创作门槛高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2971800"/>
            <a:ext cx="2880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非专业教师难以独立完成 3D 课件制作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高度依赖外部外包定制，周期长、成本高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内容更新僵化，难以响应教学需求变化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26279" y="1783080"/>
            <a:ext cx="35204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79" y="1783080"/>
            <a:ext cx="3520440" cy="91440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00D4FF"/>
              </a:gs>
              <a:gs pos="100000">
                <a:srgbClr val="004655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79" y="2240280"/>
            <a:ext cx="3520440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599" y="192024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14999" y="203911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虚拟仿真局限于单机体验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46319" y="2971800"/>
            <a:ext cx="2880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缺乏高并发低延迟的多人协同机制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交互刻板，无个性化指导与反馈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难以开展跨地域远程协作实训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75319" y="1783080"/>
            <a:ext cx="35204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75319" y="1783080"/>
            <a:ext cx="3520440" cy="91440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2E1E52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19" y="2240280"/>
            <a:ext cx="3520440" cy="457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39" y="192024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64039" y="203911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时空与硬件壁垒突出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95359" y="2971800"/>
            <a:ext cx="2880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3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新疆地域广阔，师资与资源分布不均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3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偏远地区难以享受优质实训资源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3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高端 VR/工作站硬件依赖，采购成本高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7240" y="6080760"/>
            <a:ext cx="10652760" cy="38404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0120" y="6199632"/>
            <a:ext cx="146304" cy="146304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6108192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5CE5"/>
                </a:solidFill>
                <a:latin typeface="微软雅黑" panose="020B0503020204020204" charset="-122"/>
                <a:ea typeface="微软雅黑" panose="020B0503020204020204" charset="-122"/>
              </a:rPr>
              <a:t>立项契机：将 AI 技术与空间计算、WebGL2.0 渲染融合，打造 AI 数字人工匠导师智能体</a:t>
            </a:r>
            <a:endParaRPr sz="1200" b="1">
              <a:solidFill>
                <a:srgbClr val="1E5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02  ·  项目目标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四大项目目标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04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34924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91440" cy="21031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2148840"/>
            <a:ext cx="685800" cy="685800"/>
          </a:xfrm>
          <a:prstGeom prst="ellipse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006A7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194560"/>
            <a:ext cx="685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11680" y="214884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打造 AI 工匠导师智能体</a:t>
            </a:r>
            <a:endParaRPr sz="17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011680" y="265176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834640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构建具备自主感知、推理与执行能力的 AI 数字人工匠导师，打造职业教育全栈元宇宙解决方案，破解职教数字化实训行业痛点。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55079" y="1783080"/>
            <a:ext cx="534924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79" y="1783080"/>
            <a:ext cx="91440" cy="21031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20839" y="2148840"/>
            <a:ext cx="685800" cy="685800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F451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39" y="2194560"/>
            <a:ext cx="685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9519" y="214884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依托算力底座赋能实训</a:t>
            </a:r>
            <a:endParaRPr sz="17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589519" y="2651760"/>
            <a:ext cx="548640" cy="254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2834640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依托昌吉州算力底座，实现实训教学的多人协同、零门槛 3D 课件创作、个性化伴学辅导，提升实训智能化、沉浸式与高效性。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7240" y="4114800"/>
            <a:ext cx="534924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114800"/>
            <a:ext cx="91440" cy="2103120"/>
          </a:xfrm>
          <a:prstGeom prst="rect">
            <a:avLst/>
          </a:prstGeom>
          <a:solidFill>
            <a:srgbClr val="1E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3000" y="4480560"/>
            <a:ext cx="685800" cy="685800"/>
          </a:xfrm>
          <a:prstGeom prst="ellipse">
            <a:avLst/>
          </a:prstGeom>
          <a:gradFill flip="none" rotWithShape="1">
            <a:gsLst>
              <a:gs pos="0">
                <a:srgbClr val="1E5CE5"/>
              </a:gs>
              <a:gs pos="100000">
                <a:srgbClr val="0F2E72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526280"/>
            <a:ext cx="685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11680" y="448056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消纳算力 · 区域标杆</a:t>
            </a:r>
            <a:endParaRPr sz="17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011680" y="4983480"/>
            <a:ext cx="548640" cy="25400"/>
          </a:xfrm>
          <a:prstGeom prst="rect">
            <a:avLst/>
          </a:prstGeom>
          <a:solidFill>
            <a:srgbClr val="1E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5166360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有效消纳昌吉州融合算力资源，推动算力与职教场景深度融合，打造区域数字职教标杆。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55079" y="4114800"/>
            <a:ext cx="534924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79" y="4114800"/>
            <a:ext cx="91440" cy="2103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20839" y="4480560"/>
            <a:ext cx="685800" cy="685800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452E7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39" y="4526280"/>
            <a:ext cx="685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89519" y="448056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可复制模式 · 技能出海</a:t>
            </a:r>
            <a:endParaRPr sz="17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589519" y="4983480"/>
            <a:ext cx="54864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19" y="5166360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形成可复制、可推广的职教数字化模式，赋能昌吉州及全疆职业院校与企业实训，为“一带一路”技能出海提供数字化载体。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02  ·  产品定位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一中心 · 三角色 · 全栈闭环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05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727448" y="2560320"/>
            <a:ext cx="2743200" cy="2743200"/>
          </a:xfrm>
          <a:prstGeom prst="ellipse">
            <a:avLst/>
          </a:prstGeom>
          <a:gradFill flip="none" rotWithShape="1">
            <a:gsLst>
              <a:gs pos="0">
                <a:srgbClr val="1E5CE5"/>
              </a:gs>
              <a:gs pos="100000">
                <a:srgbClr val="00D4FF"/>
              </a:gs>
            </a:gsLst>
            <a:lin ang="2700000" scaled="1"/>
          </a:gradFill>
          <a:ln>
            <a:noFill/>
          </a:ln>
          <a:effectLst>
            <a:glow rad="254000">
              <a:srgbClr val="00D4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2377440"/>
            <a:ext cx="3108960" cy="3108960"/>
          </a:xfrm>
          <a:prstGeom prst="ellipse">
            <a:avLst/>
          </a:prstGeom>
          <a:noFill/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32461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工匠导师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27448" y="3794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641848" y="4206240"/>
            <a:ext cx="914400" cy="1905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43891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感知 · 推理 · 执行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05840" y="1783080"/>
            <a:ext cx="27432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F8A3D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80160" y="1965960"/>
            <a:ext cx="36576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20756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智能讲师</a:t>
            </a:r>
            <a:endParaRPr sz="16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80160" y="249631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AI 数字人授课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0160" y="28346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3D 视角联动 · TTS 配音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86800" y="1783080"/>
            <a:ext cx="27432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D4FF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965960"/>
            <a:ext cx="36576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0756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智能助教</a:t>
            </a:r>
            <a:endParaRPr sz="1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61120" y="249631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个性化伴学辅导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61120" y="28346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多模态问答 · 实时反馈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05840" y="4572000"/>
            <a:ext cx="274320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80160" y="4754880"/>
            <a:ext cx="36576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8646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智能教研员</a:t>
            </a:r>
            <a:endParaRPr sz="16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80160" y="528523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零门槛 3D 课件创作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80160" y="56235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文本 → 大纲 → 3D 动态课件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686800" y="4572000"/>
            <a:ext cx="2743200" cy="150876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1E5CE5"/>
              </a:gs>
              <a:gs pos="100000">
                <a:srgbClr val="102A4A"/>
              </a:gs>
            </a:gsLst>
            <a:lin ang="270000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8006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全栈闭环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784080" y="5212080"/>
            <a:ext cx="548640" cy="1905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53492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Web · Unity · VR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三端一致播放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03  ·  技术架构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云-边-端 协同分布式架构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06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2286000" cy="13716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1E5CE5"/>
              </a:gs>
              <a:gs pos="100000">
                <a:srgbClr val="0F2E72"/>
              </a:gs>
            </a:gsLst>
            <a:lin ang="270000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云  层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昌吉智算中枢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0A0C0"/>
                </a:solidFill>
                <a:latin typeface="微软雅黑" panose="020B0503020204020204" charset="-122"/>
                <a:ea typeface="微软雅黑" panose="020B0503020204020204" charset="-122"/>
              </a:rPr>
              <a:t>CLOUD</a:t>
            </a:r>
            <a:endParaRPr sz="900" b="0">
              <a:solidFill>
                <a:srgbClr val="80A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46120" y="1737360"/>
            <a:ext cx="818387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74720" y="1965960"/>
            <a:ext cx="109728" cy="109728"/>
          </a:xfrm>
          <a:prstGeom prst="ellipse">
            <a:avLst/>
          </a:prstGeom>
          <a:solidFill>
            <a:srgbClr val="1E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8" y="1901952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AI 大模型推理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DeepSeek / QwenVL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468112" y="1965960"/>
            <a:ext cx="109728" cy="109728"/>
          </a:xfrm>
          <a:prstGeom prst="ellipse">
            <a:avLst/>
          </a:prstGeom>
          <a:solidFill>
            <a:srgbClr val="1E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901952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3D 资产存储转码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GLB 标准化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461504" y="1965960"/>
            <a:ext cx="109728" cy="109728"/>
          </a:xfrm>
          <a:prstGeom prst="ellipse">
            <a:avLst/>
          </a:prstGeom>
          <a:solidFill>
            <a:srgbClr val="1E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1901952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微服务 + K8s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弹性扩容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454896" y="1965960"/>
            <a:ext cx="109728" cy="109728"/>
          </a:xfrm>
          <a:prstGeom prst="ellipse">
            <a:avLst/>
          </a:prstGeom>
          <a:solidFill>
            <a:srgbClr val="1E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56064" y="1901952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数据湖治理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全生命周期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37360" y="310896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▼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7240" y="3291839"/>
            <a:ext cx="2286000" cy="13716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00D4FF"/>
              </a:gs>
              <a:gs pos="100000">
                <a:srgbClr val="006A7F"/>
              </a:gs>
            </a:gsLst>
            <a:lin ang="270000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474719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边缘层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3931919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CDN + 边缘计算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25195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0A0C0"/>
                </a:solidFill>
                <a:latin typeface="微软雅黑" panose="020B0503020204020204" charset="-122"/>
                <a:ea typeface="微软雅黑" panose="020B0503020204020204" charset="-122"/>
              </a:rPr>
              <a:t>EDGE</a:t>
            </a:r>
            <a:endParaRPr sz="900" b="0">
              <a:solidFill>
                <a:srgbClr val="80A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246120" y="3291839"/>
            <a:ext cx="818387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74720" y="3520439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8" y="3456431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3D 资产就近缓存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边缘节点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468112" y="3520439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456431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解决西部网络波动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弱网降级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461504" y="3520439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3456431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预加载策略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体验保障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9454896" y="3520439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56064" y="3456431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跨地域协同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低延迟保障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37360" y="4663439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▼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77240" y="4846320"/>
            <a:ext cx="2286000" cy="13716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7F451E"/>
              </a:gs>
            </a:gsLst>
            <a:lin ang="270000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0292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端  层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7240" y="54864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WebGL2.0 + WebXR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80A0C0"/>
                </a:solidFill>
                <a:latin typeface="微软雅黑" panose="020B0503020204020204" charset="-122"/>
                <a:ea typeface="微软雅黑" panose="020B0503020204020204" charset="-122"/>
              </a:rPr>
              <a:t>CLIENT</a:t>
            </a:r>
            <a:endParaRPr sz="900" b="0">
              <a:solidFill>
                <a:srgbClr val="80A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246120" y="4846320"/>
            <a:ext cx="8183879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74720" y="5074920"/>
            <a:ext cx="109728" cy="10972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75888" y="5010912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轻量化渲染引擎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浏览器原生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5468112" y="5074920"/>
            <a:ext cx="109728" cy="10972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0" y="5010912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全终端无缝接入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无硬件依赖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7461504" y="5074920"/>
            <a:ext cx="109728" cy="10972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62672" y="5010912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VR/PICO 沉浸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WebXR 标准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9454896" y="5074920"/>
            <a:ext cx="109728" cy="10972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56064" y="5010912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摆脱高配硬件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普惠化</a:t>
            </a:r>
            <a:endParaRPr sz="11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6400800"/>
            <a:ext cx="10652760" cy="29260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6419088"/>
            <a:ext cx="10652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E5CE5"/>
                </a:solidFill>
                <a:latin typeface="微软雅黑" panose="020B0503020204020204" charset="-122"/>
                <a:ea typeface="微软雅黑" panose="020B0503020204020204" charset="-122"/>
              </a:rPr>
              <a:t>高可用  ·  高并发  ·  高沉浸  ——  AI 职教元宇宙技术生态</a:t>
            </a:r>
            <a:endParaRPr sz="1100" b="1">
              <a:solidFill>
                <a:srgbClr val="1E5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04  ·  核心引擎 01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AI 智能 3D 编辑器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07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57784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9659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核心能力</a:t>
            </a:r>
            <a:endParaRPr sz="1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51560" y="2377440"/>
            <a:ext cx="640080" cy="254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651760"/>
            <a:ext cx="292608" cy="292608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C53D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67004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3040" y="26517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多格式 3D 模型解析</a:t>
            </a:r>
            <a:endParaRPr sz="13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1880" y="265176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FBX / OBJ / STL / GLB / STEP，自动转码 GLB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51560" y="3328416"/>
            <a:ext cx="292608" cy="292608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C53D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346704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63040" y="33284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AI 自动生成课件</a:t>
            </a:r>
            <a:endParaRPr sz="13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11880" y="3328416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“文本描述 → 大纲 → 3D 动态课件” 一键生成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51560" y="4005072"/>
            <a:ext cx="292608" cy="292608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C53D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2336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63040" y="40050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AI 智能整理</a:t>
            </a:r>
            <a:endParaRPr sz="13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11880" y="400507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QwenVL 视觉大模型自动识别重命名部件、分组结构树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051560" y="4681728"/>
            <a:ext cx="292608" cy="292608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C53D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700016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63040" y="468172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关键帧动画编辑</a:t>
            </a:r>
            <a:endParaRPr sz="13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11880" y="468172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相机/显隐/变换三轨道，精确控制每帧状态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51560" y="5358384"/>
            <a:ext cx="292608" cy="292608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FFC53D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37667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63040" y="535838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一键演示配置</a:t>
            </a:r>
            <a:endParaRPr sz="13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11880" y="5358384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相机关键帧 · 部件高亮 · 语音解说 · 标注联动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37960" y="1783080"/>
            <a:ext cx="4892040" cy="425196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0A1428"/>
              </a:gs>
              <a:gs pos="100000">
                <a:srgbClr val="102A4A"/>
              </a:gs>
            </a:gsLst>
            <a:lin ang="270000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89920" y="1965960"/>
            <a:ext cx="731520" cy="731520"/>
          </a:xfrm>
          <a:prstGeom prst="ellipse">
            <a:avLst/>
          </a:prstGeom>
          <a:noFill/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AI 课件生成工作流</a:t>
            </a:r>
            <a:endParaRPr sz="1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812280" y="2377440"/>
            <a:ext cx="640080" cy="254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03720" y="269748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1B2E4D"/>
          </a:solidFill>
          <a:ln w="63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2770632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06640" y="2788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教师输入文本描述 / 教学目标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86800" y="31546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▼</a:t>
            </a:r>
            <a:endParaRPr sz="12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903720" y="3355848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1B2E4D"/>
          </a:solidFill>
          <a:ln w="63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342900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06640" y="34472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大模型生成课程大纲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686800" y="3813048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▼</a:t>
            </a:r>
            <a:endParaRPr sz="12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903720" y="4014216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1B2E4D"/>
          </a:solidFill>
          <a:ln w="63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4087368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406640" y="410565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自动配置相机关键帧 · 部件高亮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686800" y="4471416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▼</a:t>
            </a:r>
            <a:endParaRPr sz="12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903720" y="4672584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1B2E4D"/>
          </a:solidFill>
          <a:ln w="63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0" y="4745736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2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06640" y="47640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生成 3D 动态课件 + 讲稿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686800" y="5129784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▼</a:t>
            </a:r>
            <a:endParaRPr sz="12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903720" y="5330952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1B2E4D"/>
          </a:solidFill>
          <a:ln w="63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40880" y="540410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2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06640" y="54223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TTS 批量配音 → 发布</a:t>
            </a:r>
            <a:endParaRPr sz="1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04  ·  核心引擎 02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超低延迟通信协同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08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2606040" cy="1417320"/>
          </a:xfrm>
          <a:prstGeom prst="roundRect">
            <a:avLst>
              <a:gd name="adj" fmla="val 5000"/>
            </a:avLst>
          </a:prstGeom>
          <a:gradFill flip="none" rotWithShape="1">
            <a:gsLst>
              <a:gs pos="0">
                <a:srgbClr val="0A1428"/>
              </a:gs>
              <a:gs pos="100000">
                <a:srgbClr val="102A4A"/>
              </a:gs>
            </a:gsLst>
            <a:lin ang="270000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1920240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&lt;100</a:t>
            </a:r>
            <a:endParaRPr sz="36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31720" y="22860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ms</a:t>
            </a:r>
            <a:endParaRPr sz="16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27432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音频通信延迟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" y="2971800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WebRTC</a:t>
            </a:r>
            <a:endParaRPr sz="900" b="0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566160" y="1783080"/>
            <a:ext cx="2606040" cy="1417320"/>
          </a:xfrm>
          <a:prstGeom prst="roundRect">
            <a:avLst>
              <a:gd name="adj" fmla="val 5000"/>
            </a:avLst>
          </a:prstGeom>
          <a:gradFill flip="none" rotWithShape="1">
            <a:gsLst>
              <a:gs pos="0">
                <a:srgbClr val="0A1428"/>
              </a:gs>
              <a:gs pos="100000">
                <a:srgbClr val="102A4A"/>
              </a:gs>
            </a:gsLst>
            <a:lin ang="270000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1920240"/>
            <a:ext cx="4572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&lt;50</a:t>
            </a:r>
            <a:endParaRPr sz="3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20640" y="22860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ms</a:t>
            </a:r>
            <a:endParaRPr sz="16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40480" y="27432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白板同步延迟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40480" y="2971800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WebSocket</a:t>
            </a:r>
            <a:endParaRPr sz="9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55079" y="1783080"/>
            <a:ext cx="2606040" cy="1417320"/>
          </a:xfrm>
          <a:prstGeom prst="roundRect">
            <a:avLst>
              <a:gd name="adj" fmla="val 5000"/>
            </a:avLst>
          </a:prstGeom>
          <a:gradFill flip="none" rotWithShape="1">
            <a:gsLst>
              <a:gs pos="0">
                <a:srgbClr val="0A1428"/>
              </a:gs>
              <a:gs pos="100000">
                <a:srgbClr val="102A4A"/>
              </a:gs>
            </a:gsLst>
            <a:lin ang="270000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399" y="1920240"/>
            <a:ext cx="4572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36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09559" y="22860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sz="16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9399" y="27432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同频在线协同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29399" y="2971800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高并发</a:t>
            </a:r>
            <a:endParaRPr sz="900" b="0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143999" y="1783080"/>
            <a:ext cx="2606040" cy="1417320"/>
          </a:xfrm>
          <a:prstGeom prst="roundRect">
            <a:avLst>
              <a:gd name="adj" fmla="val 5000"/>
            </a:avLst>
          </a:prstGeom>
          <a:gradFill flip="none" rotWithShape="1">
            <a:gsLst>
              <a:gs pos="0">
                <a:srgbClr val="0A1428"/>
              </a:gs>
              <a:gs pos="100000">
                <a:srgbClr val="102A4A"/>
              </a:gs>
            </a:gsLst>
            <a:lin ang="270000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1920240"/>
            <a:ext cx="4572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599" y="2103120"/>
            <a:ext cx="2148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4B8A6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3600" b="1">
              <a:solidFill>
                <a:srgbClr val="14B8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698479" y="22860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DoF</a:t>
            </a:r>
            <a:endParaRPr sz="16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18319" y="274320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动作捕捉重定向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418319" y="2971800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14B8A6"/>
                </a:solidFill>
                <a:latin typeface="微软雅黑" panose="020B0503020204020204" charset="-122"/>
                <a:ea typeface="微软雅黑" panose="020B0503020204020204" charset="-122"/>
              </a:rPr>
              <a:t>沉浸式</a:t>
            </a:r>
            <a:endParaRPr sz="900" b="0">
              <a:solidFill>
                <a:srgbClr val="14B8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77240" y="3474720"/>
            <a:ext cx="352044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3703320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38404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WebRTC 音频通信</a:t>
            </a:r>
            <a:endParaRPr sz="15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1560" y="434340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高清语音多人通话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3D 空间音频定位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智能混音降噪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延迟控制在 100ms 内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526279" y="3474720"/>
            <a:ext cx="352044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00599" y="3703320"/>
            <a:ext cx="4572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599" y="38404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WebSocket 实时同步</a:t>
            </a:r>
            <a:endParaRPr sz="15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00599" y="434340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虚拟白板 50ms 同步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教师授权学生操作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同步 3D 模型操作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多人实时协作标记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275319" y="3474720"/>
            <a:ext cx="352044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49639" y="3703320"/>
            <a:ext cx="4572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39" y="38404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沉浸式协同体验</a:t>
            </a:r>
            <a:endParaRPr sz="15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49639" y="4343400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3D 空间音频沉浸感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视角强制同步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VR 飞屏技术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60000"/>
              </a:lnSpc>
              <a:spcAft>
                <a:spcPts val="800"/>
              </a:spcAft>
            </a:pPr>
            <a:r>
              <a:rPr sz="12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跨地域协同实训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04  ·  核心引擎 03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高并发渲染优化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09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关键技术手段</a:t>
            </a:r>
            <a:endParaRPr sz="1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194560"/>
            <a:ext cx="57607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194560"/>
            <a:ext cx="91440" cy="65836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3042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动态 LOD</a:t>
            </a:r>
            <a:endParaRPr sz="13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" y="25786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根据距离动态切换模型精度，远距简化、近距精细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2944368"/>
            <a:ext cx="57607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944368"/>
            <a:ext cx="91440" cy="65836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0540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遮挡剔除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51560" y="33284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智能剔除被遮挡几何体，减少不必要的绘制调用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694176"/>
            <a:ext cx="57607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694176"/>
            <a:ext cx="91440" cy="658368"/>
          </a:xfrm>
          <a:prstGeom prst="rect">
            <a:avLst/>
          </a:prstGeom>
          <a:solidFill>
            <a:srgbClr val="1E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8039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5CE5"/>
                </a:solidFill>
                <a:latin typeface="微软雅黑" panose="020B0503020204020204" charset="-122"/>
                <a:ea typeface="微软雅黑" panose="020B0503020204020204" charset="-122"/>
              </a:rPr>
              <a:t>实例化渲染</a:t>
            </a:r>
            <a:endParaRPr sz="1300" b="1">
              <a:solidFill>
                <a:srgbClr val="1E5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40782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相同几何体单次绘制批量渲染，大幅降低 GPU 负担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7240" y="4443983"/>
            <a:ext cx="57607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443983"/>
            <a:ext cx="91440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55371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6DoF 动作捕捉</a:t>
            </a:r>
            <a:endParaRPr sz="13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1560" y="4828031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头盔/手柄跟踪 + 位置算法驱动全身姿态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5193792"/>
            <a:ext cx="576072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93792"/>
            <a:ext cx="91440" cy="65836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303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4B8A6"/>
                </a:solidFill>
                <a:latin typeface="微软雅黑" panose="020B0503020204020204" charset="-122"/>
                <a:ea typeface="微软雅黑" panose="020B0503020204020204" charset="-122"/>
              </a:rPr>
              <a:t>骨骼重定向</a:t>
            </a:r>
            <a:endParaRPr sz="1300" b="1">
              <a:solidFill>
                <a:srgbClr val="14B8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51560" y="5577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统一骨骼骨架映射，支持多 Avatar 动作同步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20840" y="1783080"/>
            <a:ext cx="4709160" cy="425196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0A1428"/>
              </a:gs>
              <a:gs pos="100000">
                <a:srgbClr val="102A4A"/>
              </a:gs>
            </a:gsLst>
            <a:lin ang="270000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89920" y="1920240"/>
            <a:ext cx="731520" cy="731520"/>
          </a:xfrm>
          <a:prstGeom prst="ellipse">
            <a:avLst/>
          </a:prstGeom>
          <a:noFill/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19659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性能指标达成</a:t>
            </a:r>
            <a:endParaRPr sz="1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995160" y="2377440"/>
            <a:ext cx="640080" cy="254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86600" y="2697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B2E4D"/>
          </a:solidFill>
          <a:ln w="6350">
            <a:solidFill>
              <a:srgbClr val="2A3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28346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endParaRPr sz="24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086600" y="326440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人并发同频</a:t>
            </a:r>
            <a:endParaRPr sz="10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281160" y="26974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B2E4D"/>
          </a:solidFill>
          <a:ln w="6350">
            <a:solidFill>
              <a:srgbClr val="2A3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283464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100万+</a:t>
            </a:r>
            <a:endParaRPr sz="2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281160" y="326440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面片级流畅渲染</a:t>
            </a:r>
            <a:endParaRPr sz="10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086600" y="3749039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B2E4D"/>
          </a:solidFill>
          <a:ln w="6350">
            <a:solidFill>
              <a:srgbClr val="2A3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6600" y="3886199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1E5CE5"/>
                </a:solidFill>
                <a:latin typeface="微软雅黑" panose="020B0503020204020204" charset="-122"/>
                <a:ea typeface="微软雅黑" panose="020B0503020204020204" charset="-122"/>
              </a:rPr>
              <a:t>60</a:t>
            </a:r>
            <a:endParaRPr sz="2400" b="1">
              <a:solidFill>
                <a:srgbClr val="1E5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86600" y="431596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FPS Web 端</a:t>
            </a:r>
            <a:endParaRPr sz="10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281160" y="3749039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B2E4D"/>
          </a:solidFill>
          <a:ln w="6350">
            <a:solidFill>
              <a:srgbClr val="2A3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3886199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90</a:t>
            </a:r>
            <a:endParaRPr sz="24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81160" y="4315967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FPS VR 端</a:t>
            </a:r>
            <a:endParaRPr sz="10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086600" y="4800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B2E4D"/>
          </a:solidFill>
          <a:ln w="6350">
            <a:solidFill>
              <a:srgbClr val="2A3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86600" y="49377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14B8A6"/>
                </a:solidFill>
                <a:latin typeface="微软雅黑" panose="020B0503020204020204" charset="-122"/>
                <a:ea typeface="微软雅黑" panose="020B0503020204020204" charset="-122"/>
              </a:rPr>
              <a:t>≤200</a:t>
            </a:r>
            <a:endParaRPr sz="2400" b="1">
              <a:solidFill>
                <a:srgbClr val="14B8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086600" y="53675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ms 操作响应</a:t>
            </a:r>
            <a:endParaRPr sz="10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281160" y="48006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B2E4D"/>
          </a:solidFill>
          <a:ln w="6350">
            <a:solidFill>
              <a:srgbClr val="2A3D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49377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4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281160" y="536752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Mbps 弱网可用</a:t>
            </a:r>
            <a:endParaRPr sz="10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05  ·  AI 智能体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“感知 - 推理 - 执行” 闭环智能体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10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88720" y="1965960"/>
            <a:ext cx="2560320" cy="2560320"/>
          </a:xfrm>
          <a:prstGeom prst="ellipse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004655"/>
              </a:gs>
            </a:gsLst>
            <a:lin ang="2700000" scaled="1"/>
          </a:gradFill>
          <a:ln>
            <a:noFill/>
          </a:ln>
          <a:effectLst>
            <a:glow rad="279400">
              <a:srgbClr val="00D4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1560" y="1828800"/>
            <a:ext cx="2834640" cy="2834640"/>
          </a:xfrm>
          <a:prstGeom prst="ellipse">
            <a:avLst/>
          </a:prstGeom>
          <a:noFill/>
          <a:ln w="952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974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  知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ASR · CV · 多模态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05840" y="47091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语音 / 文字 / 图片 / 截图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多模态输入理解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937760" y="1965960"/>
            <a:ext cx="2560320" cy="2560320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552E14"/>
              </a:gs>
            </a:gsLst>
            <a:lin ang="2700000" scaled="1"/>
          </a:gradFill>
          <a:ln>
            <a:noFill/>
          </a:ln>
          <a:effectLst>
            <a:glow rad="279400">
              <a:srgbClr val="FF8A3D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28800"/>
            <a:ext cx="2834640" cy="2834640"/>
          </a:xfrm>
          <a:prstGeom prst="ellipse">
            <a:avLst/>
          </a:prstGeom>
          <a:noFill/>
          <a:ln w="9525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6974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推  理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37760" y="3200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DeepSeek 大模型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54880" y="47091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8463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课程大纲生成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知识问答 · 个性化辅导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686800" y="1965960"/>
            <a:ext cx="2560320" cy="2560320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2E1E52"/>
              </a:gs>
            </a:gsLst>
            <a:lin ang="2700000" scaled="1"/>
          </a:gradFill>
          <a:ln>
            <a:noFill/>
          </a:ln>
          <a:effectLst>
            <a:glow rad="279400">
              <a:srgbClr val="8B5CF6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49640" y="1828800"/>
            <a:ext cx="2834640" cy="2834640"/>
          </a:xfrm>
          <a:prstGeom prst="ellipse">
            <a:avLst/>
          </a:prstGeom>
          <a:noFill/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26974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  行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0" y="3200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TTS · 3D 联动 · 数字人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503920" y="47091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8463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数字人讲解演示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3D 视角切换 · 部件高亮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49039" y="297180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44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98079" y="297180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44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77240" y="5806440"/>
            <a:ext cx="10652760" cy="3840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E5CE5"/>
              </a:gs>
              <a:gs pos="100000">
                <a:srgbClr val="102A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33872"/>
            <a:ext cx="10652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↻  闭环反馈：执行结果回流至感知层，持续优化教学策略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7240" y="6291072"/>
            <a:ext cx="10652760" cy="292608"/>
          </a:xfrm>
          <a:prstGeom prst="roundRect">
            <a:avLst>
              <a:gd name="adj" fmla="val 50000"/>
            </a:avLst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6309360"/>
            <a:ext cx="10652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E5CE5"/>
                </a:solidFill>
                <a:latin typeface="微软雅黑" panose="020B0503020204020204" charset="-122"/>
                <a:ea typeface="微软雅黑" panose="020B0503020204020204" charset="-122"/>
              </a:rPr>
              <a:t>算法伦理围栏  ·  人机协同管控  ·  数据全生命周期治理  ——  保障系统安全合规</a:t>
            </a:r>
            <a:endParaRPr sz="1000" b="0">
              <a:solidFill>
                <a:srgbClr val="1E5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06  ·  产品功能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六大核心产品模块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11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3520440" cy="50292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7F451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057400"/>
            <a:ext cx="3520440" cy="2286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874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54480" y="189280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元宇宙教学大厅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51560" y="24688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49631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Unity / PICO</a:t>
            </a:r>
            <a:endParaRPr sz="10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29260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多人 VR 协同教学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Avatar · 白板 · 飞屏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26279" y="178308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79" y="1783080"/>
            <a:ext cx="3520440" cy="50292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00D4FF"/>
              </a:gs>
              <a:gs pos="100000">
                <a:srgbClr val="006A7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79" y="2057400"/>
            <a:ext cx="3520440" cy="2286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599" y="1874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3519" y="189280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智能 3D 编辑器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800599" y="24688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249631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Web · Three.js</a:t>
            </a:r>
            <a:endParaRPr sz="10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00599" y="29260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零门槛 3D 课件创作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AI 整理 · 关键帧动画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75319" y="178308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19" y="1783080"/>
            <a:ext cx="3520440" cy="50292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1E5CE5"/>
              </a:gs>
              <a:gs pos="100000">
                <a:srgbClr val="0F2E72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19" y="2057400"/>
            <a:ext cx="3520440" cy="228600"/>
          </a:xfrm>
          <a:prstGeom prst="rect">
            <a:avLst/>
          </a:prstGeom>
          <a:solidFill>
            <a:srgbClr val="1E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39" y="187452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052559" y="189280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课件制作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549639" y="246888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39" y="249631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E5CE5"/>
                </a:solidFill>
                <a:latin typeface="微软雅黑" panose="020B0503020204020204" charset="-122"/>
                <a:ea typeface="微软雅黑" panose="020B0503020204020204" charset="-122"/>
              </a:rPr>
              <a:t>DeepSeek 大模型</a:t>
            </a:r>
            <a:endParaRPr sz="1000" b="1">
              <a:solidFill>
                <a:srgbClr val="1E5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49639" y="29260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一键生成授课大纲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考题 · TTS 配音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77240" y="411480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" y="4114800"/>
            <a:ext cx="3520440" cy="50292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452E7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389120"/>
            <a:ext cx="3520440" cy="228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20624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554480" y="422452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公开播放器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051560" y="48006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82803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Web · WebXR</a:t>
            </a:r>
            <a:endParaRPr sz="10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51560" y="525780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学习/探索/答题三模式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VR 沉浸式体验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526279" y="411480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26279" y="4114800"/>
            <a:ext cx="3520440" cy="50292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14B8A6"/>
              </a:gs>
              <a:gs pos="100000">
                <a:srgbClr val="0A5C53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26279" y="4389120"/>
            <a:ext cx="3520440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599" y="420624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303519" y="422452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资源与用户管理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800599" y="48006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00599" y="482803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14B8A6"/>
                </a:solidFill>
                <a:latin typeface="微软雅黑" panose="020B0503020204020204" charset="-122"/>
                <a:ea typeface="微软雅黑" panose="020B0503020204020204" charset="-122"/>
              </a:rPr>
              <a:t>Next.js + Express</a:t>
            </a:r>
            <a:endParaRPr sz="1000" b="1">
              <a:solidFill>
                <a:srgbClr val="14B8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800599" y="525780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多角色权限 · 配额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批量导入 · 资源转码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275319" y="411480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75319" y="4114800"/>
            <a:ext cx="3520440" cy="502920"/>
          </a:xfrm>
          <a:prstGeom prst="roundRect">
            <a:avLst>
              <a:gd name="adj" fmla="val 4000"/>
            </a:avLst>
          </a:prstGeom>
          <a:gradFill flip="none" rotWithShape="1">
            <a:gsLst>
              <a:gs pos="0">
                <a:srgbClr val="EC4899"/>
              </a:gs>
              <a:gs pos="100000">
                <a:srgbClr val="76244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75319" y="4389120"/>
            <a:ext cx="3520440" cy="2286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49639" y="420624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052559" y="422452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数据分析看板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549639" y="480060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0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49639" y="482803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EC4899"/>
                </a:solidFill>
                <a:latin typeface="微软雅黑" panose="020B0503020204020204" charset="-122"/>
                <a:ea typeface="微软雅黑" panose="020B0503020204020204" charset="-122"/>
              </a:rPr>
              <a:t>MongoDB 聚合</a:t>
            </a:r>
            <a:endParaRPr sz="1000" b="1">
              <a:solidFill>
                <a:srgbClr val="EC4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549639" y="525780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成绩统计 · 学习进度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趋势图 · 多级穿透</a:t>
            </a:r>
            <a:endParaRPr sz="1200" b="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06  ·  应用场景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多行业 · 多专业 · 多形态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12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148840"/>
            <a:ext cx="777240" cy="777240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F451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221992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11680" y="224028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高危特种作业实训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97280" y="306324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0040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云端 1:1 还原工业现场，零风险虚拟实操，体验违规操作后果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26279" y="178308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46319" y="2148840"/>
            <a:ext cx="777240" cy="777240"/>
          </a:xfrm>
          <a:prstGeom prst="ellipse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006A7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19" y="2221992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0719" y="224028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装配式建筑专业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46319" y="306324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19" y="320040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节点构造 · 结构展示 · 装配工艺流程三维可视化教学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75319" y="178308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59" y="2148840"/>
            <a:ext cx="777240" cy="777240"/>
          </a:xfrm>
          <a:prstGeom prst="ellipse">
            <a:avLst/>
          </a:prstGeom>
          <a:gradFill flip="none" rotWithShape="1">
            <a:gsLst>
              <a:gs pos="0">
                <a:srgbClr val="1E5CE5"/>
              </a:gs>
              <a:gs pos="100000">
                <a:srgbClr val="0F2E72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59" y="2221992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509759" y="224028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自动化产线专业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95359" y="306324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59" y="320040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工业机器人 · 产线调试 · 设备维护三维仿真实训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7240" y="411480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7280" y="4480560"/>
            <a:ext cx="777240" cy="777240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452E7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553712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11680" y="457200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水利水电专业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97280" y="539496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53212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枢纽工程 · 设备原理 · 施工工艺沉浸式教学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526279" y="411480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46319" y="4480560"/>
            <a:ext cx="777240" cy="777240"/>
          </a:xfrm>
          <a:prstGeom prst="ellipse">
            <a:avLst/>
          </a:prstGeom>
          <a:gradFill flip="none" rotWithShape="1">
            <a:gsLst>
              <a:gs pos="0">
                <a:srgbClr val="14B8A6"/>
              </a:gs>
              <a:gs pos="100000">
                <a:srgbClr val="0A5C5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19" y="4553712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60719" y="457200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企业技能内训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846319" y="539496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19" y="553212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降低企业内训成本，标准化岗位技能培训与考核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275319" y="411480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95359" y="4480560"/>
            <a:ext cx="777240" cy="777240"/>
          </a:xfrm>
          <a:prstGeom prst="ellipse">
            <a:avLst/>
          </a:prstGeom>
          <a:gradFill flip="none" rotWithShape="1">
            <a:gsLst>
              <a:gs pos="0">
                <a:srgbClr val="EC4899"/>
              </a:gs>
              <a:gs pos="100000">
                <a:srgbClr val="76244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59" y="4553712"/>
            <a:ext cx="777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509759" y="457200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“一带一路”出海</a:t>
            </a:r>
            <a:endParaRPr sz="15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595359" y="539496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59" y="553212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多语种实训平台，输出中国职业技能标准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07  ·  成果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痛点解决成果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13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1065276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137160" cy="128016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2103120"/>
            <a:ext cx="731520" cy="731520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F451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176272"/>
            <a:ext cx="731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03120" y="208483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破解高危特种作业实训难题</a:t>
            </a:r>
            <a:endParaRPr sz="17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103120" y="2487168"/>
            <a:ext cx="548640" cy="254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260604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云端 1:1 还原工业现场，实现零风险虚拟实操，让学员在安全环境中体验违规操作后果，解决实体实训高消耗、高风险、难复现问题。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" y="3291840"/>
            <a:ext cx="1065276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291840"/>
            <a:ext cx="137160" cy="12801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3566160"/>
            <a:ext cx="731520" cy="731520"/>
          </a:xfrm>
          <a:prstGeom prst="ellipse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006A7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639312"/>
            <a:ext cx="731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03120" y="354787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打破 3D 课件创作壁垒</a:t>
            </a:r>
            <a:endParaRPr sz="17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03120" y="3950208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406908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智能编辑器让非专业教师通过文本描述快速生成/修改 3D 课件，终结外部外包定制的僵化模式，释放职教教研产能。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7240" y="4754880"/>
            <a:ext cx="1065276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754880"/>
            <a:ext cx="137160" cy="12801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7280" y="5029200"/>
            <a:ext cx="731520" cy="731520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452E7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102352"/>
            <a:ext cx="731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03120" y="501091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消解时空与硬件壁垒</a:t>
            </a:r>
            <a:endParaRPr sz="17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103120" y="5413248"/>
            <a:ext cx="54864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5532120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全终端无缝接入模式，解决新疆地域广阔、师资资源不均问题，让偏远地区师生也能享受优质实训资源，摆脱高端硬件依赖。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07  ·  成果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质效提升成果  ·  降本 · 提效 · 增质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14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3520440" cy="77724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7F451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240280"/>
            <a:ext cx="3520440" cy="3200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4767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降  本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97280" y="2834640"/>
            <a:ext cx="73152" cy="7772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834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数周 → 分钟级</a:t>
            </a:r>
            <a:endParaRPr sz="18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80160" y="33375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3D 课件制作周期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97280" y="379476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977640"/>
            <a:ext cx="73152" cy="7772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977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零边际成本</a:t>
            </a:r>
            <a:endParaRPr sz="18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轻量化生产模式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97280" y="493776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5120640"/>
            <a:ext cx="73152" cy="7772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大幅降低</a:t>
            </a:r>
            <a:endParaRPr sz="18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80160" y="56235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时间与资金成本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526279" y="178308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79" y="1783080"/>
            <a:ext cx="3520440" cy="77724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00D4FF"/>
              </a:gs>
              <a:gs pos="100000">
                <a:srgbClr val="006A7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79" y="2240280"/>
            <a:ext cx="35204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79" y="194767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  效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846319" y="2834640"/>
            <a:ext cx="73152" cy="7772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199" y="2834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50 人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199" y="33375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单实训大厅高并发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846319" y="379476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19" y="3977640"/>
            <a:ext cx="73152" cy="7772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199" y="3977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量级跃升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029199" y="44805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核心资源利用率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846319" y="493776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46319" y="5120640"/>
            <a:ext cx="73152" cy="7772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199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跨地域协同</a:t>
            </a:r>
            <a:endParaRPr sz="18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199" y="56235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与线下无异的交互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275319" y="178308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75319" y="1783080"/>
            <a:ext cx="3520440" cy="77724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452E7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19" y="2240280"/>
            <a:ext cx="3520440" cy="320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19" y="194767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增  质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595359" y="2834640"/>
            <a:ext cx="73152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39" y="2834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沉浸式体验</a:t>
            </a:r>
            <a:endParaRPr sz="18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78239" y="33375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肌肉记忆 · 空间感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595359" y="379476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95359" y="3977640"/>
            <a:ext cx="73152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39" y="3977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技能转化率</a:t>
            </a:r>
            <a:endParaRPr sz="18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778239" y="44805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虚拟 → 真实岗位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595359" y="4937760"/>
            <a:ext cx="288036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95359" y="5120640"/>
            <a:ext cx="73152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39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多维信息融合</a:t>
            </a:r>
            <a:endParaRPr sz="18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778239" y="562356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视角同步 · VR 飞屏</a:t>
            </a:r>
            <a:endParaRPr sz="11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08  ·  效益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经济与社会效益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15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3520440" cy="77724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7F451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240280"/>
            <a:ext cx="3520440" cy="3200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659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经济效益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40"/>
            <a:ext cx="288036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高效消纳昌吉州算力资源，推动“东数西算”价值变现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降低本地职教财政硬件采购成本与企业内训成本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吸引 AI 职教上下游产业集聚，打造“算力+AI职教”产业链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26279" y="178308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79" y="1783080"/>
            <a:ext cx="3520440" cy="77724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00D4FF"/>
              </a:gs>
              <a:gs pos="100000">
                <a:srgbClr val="006A7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79" y="2240280"/>
            <a:ext cx="35204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19659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社会效益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46319" y="2834640"/>
            <a:ext cx="288036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填平地域与师资鸿沟，实现职教资源全域普惠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提升新疆青年数字素养与工业技能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依托“一带一路”核心区，打造多语种实训平台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成为中国职业技能标准出海的数字化桥头堡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75319" y="178308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19" y="1783080"/>
            <a:ext cx="3520440" cy="77724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452E7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19" y="2240280"/>
            <a:ext cx="3520440" cy="320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9659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产业与示范价值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95359" y="2834640"/>
            <a:ext cx="2880360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形成“政校企”协同的数字职教生态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打造国家级虚拟仿真实训示范基地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模式可快速复制至全疆乃至西北各地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  <a:spcAft>
                <a:spcPts val="1000"/>
              </a:spcAft>
            </a:pPr>
            <a:r>
              <a:rPr sz="12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2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成为 AI 赋能职业教育升级的标杆案例</a:t>
            </a:r>
            <a:endParaRPr sz="12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09  ·  优势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五大创新优势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16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10652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83080"/>
            <a:ext cx="109728" cy="7772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1947672"/>
            <a:ext cx="457200" cy="457200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F451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9842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18928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AI 原生</a:t>
            </a:r>
            <a:endParaRPr sz="16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800" y="2221992"/>
            <a:ext cx="8961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大模型深度融入 3D 创作与教学全链路，非“3D + AI 外挂”式拼凑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77240" y="2697480"/>
            <a:ext cx="10652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697480"/>
            <a:ext cx="109728" cy="7772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2862072"/>
            <a:ext cx="457200" cy="457200"/>
          </a:xfrm>
          <a:prstGeom prst="ellipse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006A7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8986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28800" y="28072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全栈闭环</a:t>
            </a:r>
            <a:endParaRPr sz="16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28800" y="3136392"/>
            <a:ext cx="8961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Web · Unity · VR 三端数据格式统一，创作-发布-学习-考核闭环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3611880"/>
            <a:ext cx="10652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611880"/>
            <a:ext cx="109728" cy="777240"/>
          </a:xfrm>
          <a:prstGeom prst="rect">
            <a:avLst/>
          </a:prstGeom>
          <a:solidFill>
            <a:srgbClr val="1E5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7280" y="3776472"/>
            <a:ext cx="457200" cy="457200"/>
          </a:xfrm>
          <a:prstGeom prst="ellipse">
            <a:avLst/>
          </a:prstGeom>
          <a:gradFill flip="none" rotWithShape="1">
            <a:gsLst>
              <a:gs pos="0">
                <a:srgbClr val="1E5CE5"/>
              </a:gs>
              <a:gs pos="100000">
                <a:srgbClr val="0F2E72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8130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28800" y="37216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5CE5"/>
                </a:solidFill>
                <a:latin typeface="微软雅黑" panose="020B0503020204020204" charset="-122"/>
                <a:ea typeface="微软雅黑" panose="020B0503020204020204" charset="-122"/>
              </a:rPr>
              <a:t>算力消纳</a:t>
            </a:r>
            <a:endParaRPr sz="1600" b="1">
              <a:solidFill>
                <a:srgbClr val="1E5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28800" y="4050792"/>
            <a:ext cx="8961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精准契合昌吉州“东数西算”定位，算力与职教场景深度融合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7240" y="4526280"/>
            <a:ext cx="10652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526280"/>
            <a:ext cx="109728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7280" y="4690872"/>
            <a:ext cx="457200" cy="457200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452E7B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7274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28800" y="46360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低门槛</a:t>
            </a:r>
            <a:endParaRPr sz="16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28800" y="4965192"/>
            <a:ext cx="8961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非专业教师可零门槛创作 3D 课件，全终端浏览器接入无硬件依赖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77240" y="5440680"/>
            <a:ext cx="106527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440680"/>
            <a:ext cx="109728" cy="777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7280" y="5605272"/>
            <a:ext cx="457200" cy="457200"/>
          </a:xfrm>
          <a:prstGeom prst="ellipse">
            <a:avLst/>
          </a:prstGeom>
          <a:gradFill flip="none" rotWithShape="1">
            <a:gsLst>
              <a:gs pos="0">
                <a:srgbClr val="14B8A6"/>
              </a:gs>
              <a:gs pos="100000">
                <a:srgbClr val="0A5C53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6418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828800" y="55504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4B8A6"/>
                </a:solidFill>
                <a:latin typeface="微软雅黑" panose="020B0503020204020204" charset="-122"/>
                <a:ea typeface="微软雅黑" panose="020B0503020204020204" charset="-122"/>
              </a:rPr>
              <a:t>可复制</a:t>
            </a:r>
            <a:endParaRPr sz="1600" b="1">
              <a:solidFill>
                <a:srgbClr val="14B8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828800" y="5879592"/>
            <a:ext cx="8961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模式标准化，可快速复制至全疆、西北乃至“一带一路”沿线国家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09  ·  推广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三步走推广路径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17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3520440" cy="118872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00D4FF"/>
              </a:gs>
              <a:gs pos="100000">
                <a:srgbClr val="006A7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51760"/>
            <a:ext cx="3520440" cy="3200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94767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5960" y="198424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第一阶段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2350008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标杆示范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昌吉州本地试点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2880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80000"/>
              </a:lnSpc>
              <a:spcAft>
                <a:spcPts val="12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遴选昌吉州职业院校试点部署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12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打造区域数字职教标杆案例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1200"/>
              </a:spcAft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验证商业模式与教学效果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60520" y="379476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22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26279" y="178308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6279" y="1783080"/>
            <a:ext cx="3520440" cy="118872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7F451E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79" y="2651760"/>
            <a:ext cx="3520440" cy="32004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599" y="194767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14999" y="198424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2350008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区域复制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26279" y="2743200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全疆及西北推广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46319" y="3291840"/>
            <a:ext cx="2880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80000"/>
              </a:lnSpc>
              <a:spcAft>
                <a:spcPts val="12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复制至全疆职业院校与企业实训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12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拓展至西北五省职教市场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1200"/>
              </a:spcAft>
            </a:pPr>
            <a:r>
              <a:rPr sz="13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建立“政校企”协同生态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909559" y="379476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▶</a:t>
            </a:r>
            <a:endParaRPr sz="22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75319" y="178308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75319" y="1783080"/>
            <a:ext cx="3520440" cy="1188720"/>
          </a:xfrm>
          <a:prstGeom prst="roundRect">
            <a:avLst>
              <a:gd name="adj" fmla="val 3000"/>
            </a:avLst>
          </a:prstGeom>
          <a:gradFill flip="none" rotWithShape="1">
            <a:gsLst>
              <a:gs pos="0">
                <a:srgbClr val="8B5CF6"/>
              </a:gs>
              <a:gs pos="100000">
                <a:srgbClr val="452E7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9" y="2651760"/>
            <a:ext cx="3520440" cy="320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39" y="194767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64039" y="198424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第三阶段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75319" y="2350008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出海输出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75319" y="2743200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“一带一路”桥头堡</a:t>
            </a:r>
            <a:endParaRPr sz="11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95359" y="3291840"/>
            <a:ext cx="28803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80000"/>
              </a:lnSpc>
              <a:spcAft>
                <a:spcPts val="1200"/>
              </a:spcAft>
            </a:pPr>
            <a:r>
              <a:rPr sz="13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多语种实训平台建设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1200"/>
              </a:spcAft>
            </a:pPr>
            <a:r>
              <a:rPr sz="13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输出中国职业技能标准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  <a:spcAft>
                <a:spcPts val="1200"/>
              </a:spcAft>
            </a:pPr>
            <a:r>
              <a:rPr sz="13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●  </a:t>
            </a:r>
            <a:r>
              <a:rPr sz="1300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技术软实力国际化</a:t>
            </a:r>
            <a:endParaRPr sz="1300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FF8A3D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PART 10  ·  愿景</a:t>
            </a:r>
            <a:endParaRPr sz="11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发展规划路线图</a:t>
            </a:r>
            <a:endParaRPr sz="2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1298448"/>
            <a:ext cx="4572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7008" y="1298448"/>
            <a:ext cx="228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18 / 19</a:t>
            </a:r>
            <a:endParaRPr sz="10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97280" y="3657600"/>
            <a:ext cx="10058400" cy="50800"/>
          </a:xfrm>
          <a:prstGeom prst="rect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EC489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3383280"/>
            <a:ext cx="548640" cy="548640"/>
          </a:xfrm>
          <a:prstGeom prst="ellipse">
            <a:avLst/>
          </a:prstGeom>
          <a:gradFill flip="none" rotWithShape="1">
            <a:gsLst>
              <a:gs pos="0">
                <a:srgbClr val="00D4FF"/>
              </a:gs>
              <a:gs pos="100000">
                <a:srgbClr val="006A7F"/>
              </a:gs>
            </a:gsLst>
            <a:lin ang="2700000" scaled="1"/>
          </a:gradFill>
          <a:ln>
            <a:noFill/>
          </a:ln>
          <a:effectLst>
            <a:glow rad="190500">
              <a:srgbClr val="00D4FF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1488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2026 H2</a:t>
            </a:r>
            <a:endParaRPr sz="14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产品深化</a:t>
            </a:r>
            <a:endParaRPr sz="1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11480" y="4114800"/>
            <a:ext cx="22860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D4FF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11480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完善 AI 智能体能力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7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拓展专业场景库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3977640" y="3383280"/>
            <a:ext cx="548640" cy="548640"/>
          </a:xfrm>
          <a:prstGeom prst="ellipse">
            <a:avLst/>
          </a:prstGeom>
          <a:gradFill flip="none" rotWithShape="1">
            <a:gsLst>
              <a:gs pos="0">
                <a:srgbClr val="FF8A3D"/>
              </a:gs>
              <a:gs pos="100000">
                <a:srgbClr val="7F451E"/>
              </a:gs>
            </a:gsLst>
            <a:lin ang="2700000" scaled="1"/>
          </a:gradFill>
          <a:ln>
            <a:noFill/>
          </a:ln>
          <a:effectLst>
            <a:glow rad="190500">
              <a:srgbClr val="FF8A3D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74720" y="21488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8A3D"/>
                </a:solidFill>
                <a:latin typeface="微软雅黑" panose="020B0503020204020204" charset="-122"/>
                <a:ea typeface="微软雅黑" panose="020B0503020204020204" charset="-122"/>
              </a:rPr>
              <a:t>2027</a:t>
            </a:r>
            <a:endParaRPr sz="1400" b="1">
              <a:solidFill>
                <a:srgbClr val="FF8A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54680" y="26974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规模推广</a:t>
            </a:r>
            <a:endParaRPr sz="1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108960" y="4114800"/>
            <a:ext cx="22860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8A3D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08960" y="4114800"/>
            <a:ext cx="2286000" cy="381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34340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全疆职校规模化落地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7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企业内训市场拓展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675120" y="3383280"/>
            <a:ext cx="548640" cy="548640"/>
          </a:xfrm>
          <a:prstGeom prst="ellipse">
            <a:avLst/>
          </a:prstGeom>
          <a:gradFill flip="none" rotWithShape="1">
            <a:gsLst>
              <a:gs pos="0">
                <a:srgbClr val="8B5CF6"/>
              </a:gs>
              <a:gs pos="100000">
                <a:srgbClr val="452E7B"/>
              </a:gs>
            </a:gsLst>
            <a:lin ang="2700000" scaled="1"/>
          </a:gradFill>
          <a:ln>
            <a:noFill/>
          </a:ln>
          <a:effectLst>
            <a:glow rad="190500">
              <a:srgbClr val="8B5CF6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72200" y="21488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</a:rPr>
              <a:t>2028</a:t>
            </a:r>
            <a:endParaRPr sz="1400" b="1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52160" y="26974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生态构建</a:t>
            </a:r>
            <a:endParaRPr sz="1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806440" y="4114800"/>
            <a:ext cx="22860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06440" y="4114800"/>
            <a:ext cx="22860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97880" y="434340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“政校企”协同生态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7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国家级示范基地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372600" y="3383280"/>
            <a:ext cx="548640" cy="548640"/>
          </a:xfrm>
          <a:prstGeom prst="ellipse">
            <a:avLst/>
          </a:prstGeom>
          <a:gradFill flip="none" rotWithShape="1">
            <a:gsLst>
              <a:gs pos="0">
                <a:srgbClr val="EC4899"/>
              </a:gs>
              <a:gs pos="100000">
                <a:srgbClr val="76244C"/>
              </a:gs>
            </a:gsLst>
            <a:lin ang="2700000" scaled="1"/>
          </a:gradFill>
          <a:ln>
            <a:noFill/>
          </a:ln>
          <a:effectLst>
            <a:glow rad="190500">
              <a:srgbClr val="EC4899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69680" y="214884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1945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EC4899"/>
                </a:solidFill>
                <a:latin typeface="微软雅黑" panose="020B0503020204020204" charset="-122"/>
                <a:ea typeface="微软雅黑" panose="020B0503020204020204" charset="-122"/>
              </a:rPr>
              <a:t>2029+</a:t>
            </a:r>
            <a:endParaRPr sz="1400" b="1">
              <a:solidFill>
                <a:srgbClr val="EC48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49640" y="26974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A2233"/>
                </a:solidFill>
                <a:latin typeface="微软雅黑" panose="020B0503020204020204" charset="-122"/>
                <a:ea typeface="微软雅黑" panose="020B0503020204020204" charset="-122"/>
              </a:rPr>
              <a:t>出海输出</a:t>
            </a:r>
            <a:endParaRPr sz="1600" b="1">
              <a:solidFill>
                <a:srgbClr val="1A22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03920" y="4114800"/>
            <a:ext cx="22860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C4899"/>
            </a:solidFill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3920" y="4114800"/>
            <a:ext cx="228600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4343400"/>
            <a:ext cx="2103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多语种平台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70000"/>
              </a:lnSpc>
            </a:pPr>
            <a:r>
              <a:rPr sz="12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“一带一路”技能出海</a:t>
            </a:r>
            <a:endParaRPr sz="12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77240" y="6035040"/>
            <a:ext cx="10652760" cy="4572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0A1428"/>
              </a:gs>
              <a:gs pos="100000">
                <a:srgbClr val="102A4A"/>
              </a:gs>
            </a:gsLst>
            <a:lin ang="0" scaled="1"/>
          </a:gradFill>
          <a:ln>
            <a:noFill/>
          </a:ln>
          <a:effectLst>
            <a:outerShdw blurRad="101600" dist="38100" dir="5400000" rotWithShape="0">
              <a:srgbClr val="0A1428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6080760"/>
            <a:ext cx="10652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愿景：成为 AI 赋能职业教育升级的标杆，让每一个学习者都有专属的 AI 工匠导师</a:t>
            </a:r>
            <a:endParaRPr sz="13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6537960"/>
            <a:ext cx="1106424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A8F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昌吉州 AI 智能体大赛</a:t>
            </a:r>
            <a:endParaRPr sz="900" b="0">
              <a:solidFill>
                <a:srgbClr val="6B7A8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50A1A"/>
              </a:gs>
              <a:gs pos="50000">
                <a:srgbClr val="0A1F3D"/>
              </a:gs>
              <a:gs pos="100000">
                <a:srgbClr val="122E5C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720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868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728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4300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344400" y="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716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288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860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43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00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576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148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720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029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86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436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15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772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296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868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1440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601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58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5156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4300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8872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344400" y="457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57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14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3716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8288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2860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743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200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6576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1148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5720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029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486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436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4008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8580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315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72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2296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68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1440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601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58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5156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9728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300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8872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2344400" y="914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57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14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3716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8288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22860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743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200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6576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1148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5720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029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486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9436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4008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8580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315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772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2296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6868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1440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601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058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5156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9728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4300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8872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2344400" y="1371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57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14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3716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8288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2860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743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200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6576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1148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5720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029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486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9436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4008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8580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315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772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2296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6868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1440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01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0058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5156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9728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14300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18872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2344400" y="1828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457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14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3716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8288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22860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743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200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6576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41148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45720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5029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5486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59436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4008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8580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15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772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2296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6868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91440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601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058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5156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9728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4300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8872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2344400" y="2286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457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914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3716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8288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22860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743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200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36576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1148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45720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5029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5486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59436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4008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68580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315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772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2296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6868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91440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601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0058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05156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09728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4300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8872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2344400" y="2743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457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14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716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8288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22860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2743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200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36576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1148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45720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029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5486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59436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64008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68580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7315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7772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82296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86868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1440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601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0058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05156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9728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14300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18872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2344400" y="3200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57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14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3716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8288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2860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2743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3200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6576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1148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5720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029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486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9436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64008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68580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7315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772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82296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86868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91440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9601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0058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05156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09728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4300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8872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2344400" y="3657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457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914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3716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88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22860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2743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200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36576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1148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5720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029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5486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59436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64008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68580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7315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7772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82296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86868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91440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9601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0058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05156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09728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14300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18872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2344400" y="4114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457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914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3716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8288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22860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2743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200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36576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1148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5720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029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5486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59436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4008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68580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315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772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82296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86868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1440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601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0058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05156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09728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14300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18872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2344400" y="4572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457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914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3716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8288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2860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743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200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36576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41148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5720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029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486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59436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4008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68580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315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772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2296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86868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91440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9601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0058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05156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09728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14300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18872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2344400" y="5029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457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914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3716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8288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2860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743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200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6576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41148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45720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5029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5486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59436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64008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68580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7315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7772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82296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86868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91440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9601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0058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05156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9728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114300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18872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12344400" y="54864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457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914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13716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8288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2860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743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200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36576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41148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5720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5029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5486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59436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64008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68580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7315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7772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82296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86868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1440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601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10058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105156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109728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14300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118872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2344400" y="59436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457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914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3716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8288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2860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743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200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36576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41148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5720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029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486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59436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64008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68580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7315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7772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82296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86868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1440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601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10058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05156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09728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114300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18872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12344400" y="64008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457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914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13716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8288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2860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743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200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36576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41148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45720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5029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5486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59436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4008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68580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7315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7772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82296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86868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1440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601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10058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05156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109728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114300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118872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12344400" y="68580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57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914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3716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8288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2860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743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200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6576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41148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45720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5029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5486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59436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64008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68580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7315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7772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82296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86868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91440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9601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0058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05156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09728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14300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18872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2344400" y="7315200"/>
            <a:ext cx="19050" cy="19050"/>
          </a:xfrm>
          <a:prstGeom prst="ellipse">
            <a:avLst/>
          </a:prstGeom>
          <a:solidFill>
            <a:srgbClr val="1A2E4D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8686800" y="731520"/>
            <a:ext cx="2926080" cy="2926080"/>
          </a:xfrm>
          <a:prstGeom prst="ellipse">
            <a:avLst/>
          </a:prstGeom>
          <a:noFill/>
          <a:ln w="1524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9144000" y="1188720"/>
            <a:ext cx="2011680" cy="2011680"/>
          </a:xfrm>
          <a:prstGeom prst="ellipse">
            <a:avLst/>
          </a:prstGeom>
          <a:noFill/>
          <a:ln w="1016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9509760" y="1554480"/>
            <a:ext cx="1280160" cy="1280160"/>
          </a:xfrm>
          <a:prstGeom prst="ellipse">
            <a:avLst/>
          </a:prstGeom>
          <a:noFill/>
          <a:ln w="762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828800" y="1371600"/>
            <a:ext cx="146304" cy="146304"/>
          </a:xfrm>
          <a:prstGeom prst="ellipse">
            <a:avLst/>
          </a:prstGeom>
          <a:solidFill>
            <a:srgbClr val="00D4FF"/>
          </a:solidFill>
          <a:ln>
            <a:noFill/>
          </a:ln>
          <a:effectLst>
            <a:glow rad="228600">
              <a:srgbClr val="00D4FF">
                <a:alpha val="5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0789920" y="5029200"/>
            <a:ext cx="128016" cy="128016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glow rad="228600">
              <a:srgbClr val="FF8A3D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371600" y="5943600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glow rad="228600">
              <a:srgbClr val="8B5CF6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TextBox 484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THANK  YOU</a:t>
            </a:r>
            <a:endParaRPr sz="8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6" name="TextBox 485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</a:rPr>
              <a:t>感谢聆听  ·  敬请指导</a:t>
            </a:r>
            <a:endParaRPr sz="30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7" name="Rectangle 486"/>
          <p:cNvSpPr/>
          <p:nvPr/>
        </p:nvSpPr>
        <p:spPr>
          <a:xfrm>
            <a:off x="4937760" y="4343400"/>
            <a:ext cx="1097280" cy="254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6035040" y="434340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9AA8BC"/>
                </a:solidFill>
                <a:latin typeface="微软雅黑" panose="020B0503020204020204" charset="-122"/>
                <a:ea typeface="微软雅黑" panose="020B0503020204020204" charset="-122"/>
              </a:rPr>
              <a:t>AI 数字人工匠导师智能体  ·  职业教育全栈元宇宙解决方案</a:t>
            </a:r>
            <a:endParaRPr sz="1600" b="0">
              <a:solidFill>
                <a:srgbClr val="9AA8B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TextBox 489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6A7A90"/>
                </a:solidFill>
                <a:latin typeface="微软雅黑" panose="020B0503020204020204" charset="-122"/>
                <a:ea typeface="微软雅黑" panose="020B0503020204020204" charset="-122"/>
              </a:rPr>
              <a:t>昌吉州 AI 智能体创新应用大赛  ·  2026</a:t>
            </a:r>
            <a:endParaRPr sz="1300" b="0">
              <a:solidFill>
                <a:srgbClr val="6A7A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Rectangle 490"/>
          <p:cNvSpPr/>
          <p:nvPr/>
        </p:nvSpPr>
        <p:spPr>
          <a:xfrm>
            <a:off x="4114800" y="6126480"/>
            <a:ext cx="3931920" cy="6350"/>
          </a:xfrm>
          <a:prstGeom prst="rect">
            <a:avLst/>
          </a:prstGeom>
          <a:solidFill>
            <a:srgbClr val="2A3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4824</Words>
  <Application>WPS 演示</Application>
  <PresentationFormat>On-screen Show (4:3)</PresentationFormat>
  <Paragraphs>807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爱飘飘的糖</cp:lastModifiedBy>
  <cp:revision>2</cp:revision>
  <dcterms:created xsi:type="dcterms:W3CDTF">2013-01-27T09:14:00Z</dcterms:created>
  <dcterms:modified xsi:type="dcterms:W3CDTF">2026-07-11T08:06:35Z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B39593E1F99747B49DE5593C6576C659_12</vt:lpwstr>
  </property>
</Properties>
</file>